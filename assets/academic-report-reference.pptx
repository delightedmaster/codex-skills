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d4d059ae3c44753" Type="http://schemas.openxmlformats.org/officeDocument/2006/relationships/extended-properties" Target="docProps/app.xml"/><Relationship Id="R7c71ffbb588b42be" Type="http://schemas.openxmlformats.org/package/2006/relationships/metadata/core-properties" Target="docProps/core.xml"/><Relationship Id="Reb704c4d33844a8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417add18b44b1e"/>
  </p:sldMasterIdLst>
  <p:notesMasterIdLst>
    <p:notesMasterId xmlns:r="http://schemas.openxmlformats.org/officeDocument/2006/relationships" r:id="Rbdd5b2b5910a4da0"/>
  </p:notesMasterIdLst>
  <p:sldIdLst>
    <p:sldId xmlns:r="http://schemas.openxmlformats.org/officeDocument/2006/relationships" id="256" r:id="Rdd0e9a65bc9840af"/>
    <p:sldId xmlns:r="http://schemas.openxmlformats.org/officeDocument/2006/relationships" id="257" r:id="Rb35edd3b383f435d"/>
    <p:sldId xmlns:r="http://schemas.openxmlformats.org/officeDocument/2006/relationships" id="258" r:id="Rdc3e86ef697646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a58d8c71b64830" Type="http://schemas.openxmlformats.org/officeDocument/2006/relationships/presProps" Target="presProps.xml"/><Relationship Id="R87486d798e524aee" Type="http://schemas.openxmlformats.org/officeDocument/2006/relationships/tableStyles" Target="tableStyles.xml"/><Relationship Id="Rb35edd3b383f435d" Type="http://schemas.openxmlformats.org/officeDocument/2006/relationships/slide" Target="slides/slide2.xml"/><Relationship Id="Rb9417add18b44b1e" Type="http://schemas.openxmlformats.org/officeDocument/2006/relationships/slideMaster" Target="slideMasters/slideMaster1.xml"/><Relationship Id="Rbdd5b2b5910a4da0" Type="http://schemas.openxmlformats.org/officeDocument/2006/relationships/notesMaster" Target="notesMasters/notesMaster1.xml"/><Relationship Id="Rdc3e86ef6976464e" Type="http://schemas.openxmlformats.org/officeDocument/2006/relationships/slide" Target="slides/slide3.xml"/><Relationship Id="Rdd0e9a65bc9840af" Type="http://schemas.openxmlformats.org/officeDocument/2006/relationships/slide" Target="slides/slide1.xml"/><Relationship Id="Rfa6433b682904f7f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92f9cbb4681f404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29837d5b4604976" Type="http://schemas.openxmlformats.org/officeDocument/2006/relationships/notesMaster" Target="../notesMasters/notesMaster1.xml"/><Relationship Id="R9a4f79c50431458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d24e4a67fef6494b" Type="http://schemas.openxmlformats.org/officeDocument/2006/relationships/notesMaster" Target="../notesMasters/notesMaster1.xml"/><Relationship Id="Rdf45f13c73cc43b4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9d4b4727c6c4598" Type="http://schemas.openxmlformats.org/officeDocument/2006/relationships/slide" Target="../slides/slide3.xml"/><Relationship Id="Rde17623c2fca4e3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 source-content.pptx，来源：原报告第11页。本页为中文改写，未增加外部实验结论。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来源：source-content.pptx 第14、15、19页。完整观测和不完整观测的全部数据按第19页原始精度录入可编辑图表。单位为相对L2误差百分数。T: 0.0795%, 0.0636%; H₂: 0.2163%, 2.9191%; O₂: 0.0618%, 2.0941%; O: 3.7163%, 0.4876%; OH: 0.825%, 0.3378%; H₂O: 0.1287%, 0.0493%; H: 1.1756%, 9.7952%; HO₂: 26.2905%, 7.5824%; H₂O₂: 28.3107%, 19.7536%; N₂: 0.0264%, 0.3353%; sL: 2.6967%, 4.0669%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 source-content.pptx，来源：原报告第16–17页。本页为中文改写，未增加外部实验结论。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27c7a4e873f409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1be8dafec5f4af4" Type="http://schemas.openxmlformats.org/officeDocument/2006/relationships/slideLayout" Target="../slideLayouts/slideLayout1.xml"/><Relationship Id="R20cde6bc57094bf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e8dafec5f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55786b7253d4755" Type="http://schemas.openxmlformats.org/officeDocument/2006/relationships/notesSlide" Target="../notesSlides/notesSlide1.xml"/><Relationship Id="Re8203c0b086d4e3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0ad543506cd4544" Type="http://schemas.openxmlformats.org/officeDocument/2006/relationships/notesSlide" Target="../notesSlides/notesSlide2.xml"/><Relationship Id="R53e6bc79e5bb48a7" Type="http://schemas.openxmlformats.org/officeDocument/2006/relationships/chart" Target="charts/chart1.xml"/><Relationship Id="R8adabba1e6514bc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d64c93274454074" Type="http://schemas.openxmlformats.org/officeDocument/2006/relationships/slideLayout" Target="../slideLayouts/slideLayout1.xml"/><Relationship Id="Rb9edf6f3cd01455d" Type="http://schemas.openxmlformats.org/officeDocument/2006/relationships/notesSlide" Target="../notesSlides/notesSlide3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玻璃–玻璃</c:v>
                </c:pt>
              </c:strCache>
            </c:strRef>
          </c:tx>
          <c:spPr>
            <a:solidFill xmlns:a="http://schemas.openxmlformats.org/drawingml/2006/main">
              <a:srgbClr val="AAB7C1"/>
            </a:solidFill>
          </c:spPr>
          <c:cat>
            <c:strRef>
              <c:f>Sheet1!$A$2:$A$7</c:f>
              <c:strCache>
                <c:ptCount val="6"/>
                <c:pt idx="0">
                  <c:v>0 h</c:v>
                </c:pt>
                <c:pt idx="1">
                  <c:v>200 h</c:v>
                </c:pt>
                <c:pt idx="2">
                  <c:v>400 h</c:v>
                </c:pt>
                <c:pt idx="3">
                  <c:v>600 h</c:v>
                </c:pt>
                <c:pt idx="4">
                  <c:v>800 h</c:v>
                </c:pt>
                <c:pt idx="5">
                  <c:v>1000 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100.0</c:v>
                </c:pt>
                <c:pt idx="1">
                  <c:v>99.2</c:v>
                </c:pt>
                <c:pt idx="2">
                  <c:v>98.4</c:v>
                </c:pt>
                <c:pt idx="3">
                  <c:v>97.5</c:v>
                </c:pt>
                <c:pt idx="4">
                  <c:v>96.8</c:v>
                </c:pt>
                <c:pt idx="5">
                  <c:v>96.1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铝塑膜</c:v>
                </c:pt>
              </c:strCache>
            </c:strRef>
          </c:tx>
          <c:spPr>
            <a:solidFill xmlns:a="http://schemas.openxmlformats.org/drawingml/2006/main">
              <a:srgbClr val="244D70"/>
            </a:solidFill>
          </c:spPr>
          <c:cat>
            <c:strRef>
              <c:f>Sheet1!$A$2:$A$7</c:f>
              <c:strCache>
                <c:ptCount val="6"/>
                <c:pt idx="0">
                  <c:v>0 h</c:v>
                </c:pt>
                <c:pt idx="1">
                  <c:v>200 h</c:v>
                </c:pt>
                <c:pt idx="2">
                  <c:v>400 h</c:v>
                </c:pt>
                <c:pt idx="3">
                  <c:v>600 h</c:v>
                </c:pt>
                <c:pt idx="4">
                  <c:v>800 h</c:v>
                </c:pt>
                <c:pt idx="5">
                  <c:v>1000 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100.0</c:v>
                </c:pt>
                <c:pt idx="1">
                  <c:v>97.9</c:v>
                </c:pt>
                <c:pt idx="2">
                  <c:v>95.2</c:v>
                </c:pt>
                <c:pt idx="3">
                  <c:v>92.3</c:v>
                </c:pt>
                <c:pt idx="4">
                  <c:v>89.4</c:v>
                </c:pt>
                <c:pt idx="5">
                  <c:v>86.0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PET 薄膜</c:v>
                </c:pt>
              </c:strCache>
            </c:strRef>
          </c:tx>
          <c:spPr>
            <a:solidFill xmlns:a="http://schemas.openxmlformats.org/drawingml/2006/main">
              <a:srgbClr val="244D70"/>
            </a:solidFill>
          </c:spPr>
          <c:cat>
            <c:strRef>
              <c:f>Sheet1!$A$2:$A$7</c:f>
              <c:strCache>
                <c:ptCount val="6"/>
                <c:pt idx="0">
                  <c:v>0 h</c:v>
                </c:pt>
                <c:pt idx="1">
                  <c:v>200 h</c:v>
                </c:pt>
                <c:pt idx="2">
                  <c:v>400 h</c:v>
                </c:pt>
                <c:pt idx="3">
                  <c:v>600 h</c:v>
                </c:pt>
                <c:pt idx="4">
                  <c:v>800 h</c:v>
                </c:pt>
                <c:pt idx="5">
                  <c:v>1000 h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100.0</c:v>
                </c:pt>
                <c:pt idx="1">
                  <c:v>95.6</c:v>
                </c:pt>
                <c:pt idx="2">
                  <c:v>90.3</c:v>
                </c:pt>
                <c:pt idx="3">
                  <c:v>84.8</c:v>
                </c:pt>
                <c:pt idx="4">
                  <c:v>78.2</c:v>
                </c:pt>
                <c:pt idx="5">
                  <c:v>71.5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73139"/>
                  </a:solidFill>
                  <a:latin typeface="Arial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E1E6E9"/>
              </a:solidFill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73139"/>
              </a:solidFill>
              <a:latin typeface="Arial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0EA36-92F7-4B87-ADC9-7C7AE22C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9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9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封装方案与加速老化实验设计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F14E3-4E09-4E45-B41B-39D57521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125" b="0">
                <a:solidFill>
                  <a:srgbClr val="69757E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solidFill>
                  <a:srgbClr val="69757E"/>
                </a:solidFill>
                <a:latin typeface="Arial"/>
                <a:ea typeface="Microsoft YaHei"/>
                <a:cs typeface="Microsoft YaHei"/>
              </a:rPr>
              <a:t>示例数据，仅用于展示版式与排版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72656-84CA-467B-B9A9-26C5BB3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350" b="0">
                <a:solidFill>
                  <a:srgbClr val="69757E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69757E"/>
                </a:solidFill>
                <a:latin typeface="Arial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4D1E1-DF0D-4FAE-A894-A24EDC1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95300" marL="0">
              <a:lnSpc>
                <a:spcPct val="112000"/>
              </a:lnSpc>
              <a:defRPr sz="195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比较三种封装结构的水汽阻隔能力与老化后的效率衰减，考察封装方案对器件寿命的影响。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685925"/>
          <a:ext xmlns:a="http://schemas.openxmlformats.org/drawingml/2006/main" cx="111252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1381125"/>
                <a:gridCol w="3333750"/>
                <a:gridCol w="4048125"/>
              </a:tblGrid>
              <a:tr h="5048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4D70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封装方案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244D70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样品数量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4D70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封装结构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4D70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测试条件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EFF3F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玻璃–玻璃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UV 胶＋玻璃背板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85 °C / 85% RH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PET 薄膜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氟聚合物薄膜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85 °C / 85% RH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铝塑膜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铝箔复合膜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85 °C / 85% RH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无封装对照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仅边缘密封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73139"/>
                          </a:solidFill>
                          <a:latin typeface="Arial"/>
                          <a:ea typeface="Microsoft YaHei"/>
                          <a:cs typeface="Microsoft YaHei"/>
                        </a:rPr>
                        <a:t>常规环境存放</a:t>
                      </a:r>
                    </a:p>
                  </a:txBody>
                  <a:tcPr marL="114300" marR="114300" marT="76200" marB="762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ED8E0"/>
                      </a:solidFill>
                    </a:lnT>
                    <a:lnB w="6350">
                      <a:solidFill>
                        <a:srgbClr val="CED8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177B2-FE79-4BCD-B126-8A237CA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老化流程与表征节点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0E131-0C97-4C1A-BCB7-22DE023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62525"/>
            <a:ext cx="11125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95300" marL="0">
              <a:lnSpc>
                <a:spcPct val="112000"/>
              </a:lnSpc>
              <a:defRPr sz="195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所有样品老化前完成初始效率与外量子效率测试，之后每 200 小时复测一次电流–电压特性。薄膜组另在 500 小时增加一次水汽渗透率测量，用于核对阻隔层性能与效率衰减的对应关系。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934814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0BD81-8A82-4DD9-B0B5-1F1D3EEE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9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9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封装材料对效率保持率影响显著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EBCC0-AEF7-4CC3-81B5-50580ED9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125" b="0">
                <a:solidFill>
                  <a:srgbClr val="69757E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solidFill>
                  <a:srgbClr val="69757E"/>
                </a:solidFill>
                <a:latin typeface="Arial"/>
                <a:ea typeface="Microsoft YaHei"/>
                <a:cs typeface="Microsoft YaHei"/>
              </a:rPr>
              <a:t>示例数据，仅用于展示版式；指标为不同老化时长的效率保持率（%）。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8C1A-B37E-4478-8502-44E60FC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350" b="0">
                <a:solidFill>
                  <a:srgbClr val="69757E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69757E"/>
                </a:solidFill>
                <a:latin typeface="Arial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F9EC3-EA1A-40B9-BD05-3D89C53C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3822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76250" marL="0">
              <a:lnSpc>
                <a:spcPct val="112000"/>
              </a:lnSpc>
              <a:defRPr sz="1875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875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三组样品均在 85 °C / 85% RH 下老化 1000 小时；柱状图为每 200 小时一次的效率保持率。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1638300"/>
          <a:ext xmlns:a="http://schemas.openxmlformats.org/drawingml/2006/main" cx="6724650" cy="4419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e6bc79e5bb48a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EAC9E-7012-45A4-8A4D-FD6FA3EA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714500"/>
            <a:ext cx="4124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0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0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玻璃封装衰减最慢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299D5-C35A-4309-8E1F-8CE4F395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95500"/>
            <a:ext cx="41243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57200" marL="0">
              <a:lnSpc>
                <a:spcPct val="112000"/>
              </a:lnSpc>
              <a:defRPr sz="18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8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玻璃–玻璃组 1000 小时后保持率仍有 96.1%，衰减主要发生在前 200 小时，随后趋于平缓。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534B-4457-4799-84D9-788ADE9A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00450"/>
            <a:ext cx="4124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0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0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薄膜方案差异明显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631C7-44B9-43A9-B9EC-460A655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81450"/>
            <a:ext cx="41243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57200" marL="0">
              <a:lnSpc>
                <a:spcPct val="112000"/>
              </a:lnSpc>
              <a:defRPr sz="18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8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PET 薄膜组保持率降至 71.5%，边缘密封处出现明显水汽侵入；铝塑膜组为 86.0%，介于两者之间。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72A97-FE70-4D75-8C27-A5581A9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238750"/>
            <a:ext cx="4124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0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0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本组实验提示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07549-D75F-48CC-A20C-A16E88A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629275"/>
            <a:ext cx="41243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57200" marL="0">
              <a:lnSpc>
                <a:spcPct val="112000"/>
              </a:lnSpc>
              <a:defRPr sz="18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8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阻隔性能与衰减速率基本对应，后续需结合水汽渗透率数据建立定量关系。</a:t>
            </a:r>
          </a:p>
        </p:txBody>
      </p:sp>
    </p:spTree>
    <p:extLst>
      <p:ext uri="{BB962C8B-B14F-4D97-AF65-F5344CB8AC3E}">
        <p14:creationId xmlns:p14="http://schemas.microsoft.com/office/powerpoint/2010/main" val="908637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9D38E-33B6-480A-AFFE-1D6F445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9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925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阶段结论与后续研究安排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7CD69-33A4-40B1-82F2-5831FBFB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125" b="0">
                <a:solidFill>
                  <a:srgbClr val="69757E"/>
                </a:solidFill>
                <a:latin typeface="Arial"/>
                <a:ea typeface="Microsoft YaHei"/>
                <a:cs typeface="Microsoft YaHei"/>
              </a:defRPr>
            </a:pPr>
            <a:r>
              <a:rPr sz="1125" b="0">
                <a:solidFill>
                  <a:srgbClr val="69757E"/>
                </a:solidFill>
                <a:latin typeface="Arial"/>
                <a:ea typeface="Microsoft YaHei"/>
                <a:cs typeface="Microsoft YaHei"/>
              </a:rPr>
              <a:t>示例数据，仅用于展示版式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6BD1C-D00C-4EA6-AEFA-7E61618F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350" b="0">
                <a:solidFill>
                  <a:srgbClr val="69757E"/>
                </a:solidFill>
                <a:latin typeface="Arial"/>
                <a:ea typeface="Microsoft YaHei"/>
                <a:cs typeface="Microsoft YaHei"/>
              </a:defRPr>
            </a:pPr>
            <a:r>
              <a:rPr sz="1350" b="0">
                <a:solidFill>
                  <a:srgbClr val="69757E"/>
                </a:solidFill>
                <a:latin typeface="Arial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25BB3-70E4-4BC4-B806-43B614BB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已完成：文献梳理、三组封装样品制备与 1000 小时老化对比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EFDD-591E-41C8-BECE-DA980D7F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95300" marL="0">
              <a:lnSpc>
                <a:spcPct val="112000"/>
              </a:lnSpc>
              <a:defRPr sz="195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玻璃–玻璃封装在高温高湿环境下表现最稳定，薄膜方案的效果与材料阻隔能力密切相关。边缘水汽侵入是薄膜封装效率下降的主要原因，后续需要重点关注阻隔层与边缘密封工艺的匹配。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233B2-96C9-48CE-A72A-8F9ADB6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后续方向一｜阻隔层厚度优化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F34E5-0EA6-4C7C-B2E6-EA28A376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厚度梯度样品制备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6CFD4-CBC9-4D4E-896D-4D4EC234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5286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82600" marL="0">
              <a:lnSpc>
                <a:spcPct val="112000"/>
              </a:lnSpc>
              <a:def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制备不同厚度的阻隔层样品，测量水汽渗透率随厚度的变化，确定性价比最优的厚度区间。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EE555-38A5-4B0B-BD1C-BA84F102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边缘密封工艺对比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D849F-1332-489D-BC3B-195E1B8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5286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82600" marL="0">
              <a:lnSpc>
                <a:spcPct val="112000"/>
              </a:lnSpc>
              <a:def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比较不同边缘密封材料与工艺参数，检验其对水汽侵入路径的抑制效果和长期可靠性。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C2C06-AD98-4972-963C-338FB15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14625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defRPr>
            </a:pPr>
            <a:r>
              <a:rPr sz="2100" b="1">
                <a:solidFill>
                  <a:srgbClr val="244D70"/>
                </a:solidFill>
                <a:latin typeface="Arial"/>
                <a:ea typeface="Microsoft YaHei"/>
                <a:cs typeface="Microsoft YaHei"/>
              </a:rPr>
              <a:t>后续方向二｜多环境因子耦合老化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37241-125C-4F9D-9493-0714E698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9565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温湿度与光照耦合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FE9B6-8C95-4E4E-B08A-68A678A0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76650"/>
            <a:ext cx="5286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82600" marL="0">
              <a:lnSpc>
                <a:spcPct val="112000"/>
              </a:lnSpc>
              <a:def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建立温湿度与光照耦合的老化矩阵，研究实际户外条件下多因子协同作用对衰减的影响。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F38ED-11EB-46CD-8851-3C79BB1A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585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>
              <a:def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50" b="1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寿命预测模型验证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6C096-0D0E-4896-A59E-78D709C7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276850"/>
            <a:ext cx="5286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latinLnBrk="0" eaLnBrk="1" hangingPunct="1" indent="482600" marL="0">
              <a:lnSpc>
                <a:spcPct val="112000"/>
              </a:lnSpc>
              <a:def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defRPr>
            </a:pPr>
            <a:r>
              <a:rPr sz="1900" b="0">
                <a:solidFill>
                  <a:srgbClr val="273139"/>
                </a:solidFill>
                <a:latin typeface="Arial"/>
                <a:ea typeface="Microsoft YaHei"/>
                <a:cs typeface="Microsoft YaHei"/>
              </a:rPr>
              <a:t>利用老化数据拟合衰减模型，分别检验实验条件范围内外的预测误差，避免用单一工况结果概括寿命表现。</a:t>
            </a:r>
          </a:p>
        </p:txBody>
      </p:sp>
    </p:spTree>
    <p:extLst>
      <p:ext uri="{BB962C8B-B14F-4D97-AF65-F5344CB8AC3E}">
        <p14:creationId xmlns:p14="http://schemas.microsoft.com/office/powerpoint/2010/main" val="640715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2026-09-05T11:54:06.4650000Z</dcterms:created>
  <dcterms:modified xsi:type="dcterms:W3CDTF">2026-09-05T11:54:06.4650000Z</dcterms:modified>
</coreProperties>
</file>